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5CAF"/>
          </a:solidFill>
          <a:ln>
            <a:solidFill>
              <a:srgbClr val="21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맑은 고딕"/>
              </a:rPr>
              <a:t>하루온 핫팩 수요 예측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dirty="0" err="1">
                <a:solidFill>
                  <a:srgbClr val="FFFFFF"/>
                </a:solidFill>
                <a:latin typeface="맑은 고딕"/>
              </a:rPr>
              <a:t>비전공자를</a:t>
            </a:r>
            <a:r>
              <a:rPr sz="2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맑은 고딕"/>
              </a:rPr>
              <a:t>위한</a:t>
            </a:r>
            <a:r>
              <a:rPr sz="2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맑은 고딕"/>
              </a:rPr>
              <a:t>시스템</a:t>
            </a:r>
            <a:r>
              <a:rPr sz="2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맑은 고딕"/>
              </a:rPr>
              <a:t>구조·데이터·정확성</a:t>
            </a:r>
            <a:r>
              <a:rPr sz="220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FFFFFF"/>
                </a:solidFill>
                <a:latin typeface="맑은 고딕"/>
              </a:rPr>
              <a:t>설명</a:t>
            </a:r>
            <a:endParaRPr sz="2200" b="0" dirty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15CAF"/>
                </a:solidFill>
                <a:latin typeface="맑은 고딕"/>
              </a:rPr>
              <a:t>이 </a:t>
            </a:r>
            <a:r>
              <a:rPr sz="2800" b="1" dirty="0" err="1">
                <a:solidFill>
                  <a:srgbClr val="215CAF"/>
                </a:solidFill>
                <a:latin typeface="맑은 고딕"/>
              </a:rPr>
              <a:t>시스템이</a:t>
            </a:r>
            <a:r>
              <a:rPr sz="2800" b="1" dirty="0">
                <a:solidFill>
                  <a:srgbClr val="215CAF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215CAF"/>
                </a:solidFill>
                <a:latin typeface="맑은 고딕"/>
              </a:rPr>
              <a:t>하는</a:t>
            </a:r>
            <a:r>
              <a:rPr sz="2800" b="1" dirty="0">
                <a:solidFill>
                  <a:srgbClr val="215CAF"/>
                </a:solidFill>
                <a:latin typeface="맑은 고딕"/>
              </a:rPr>
              <a:t> 일 (한 줄)</a:t>
            </a:r>
          </a:p>
          <a:p>
            <a:r>
              <a:rPr sz="1400" b="0" dirty="0">
                <a:solidFill>
                  <a:srgbClr val="666666"/>
                </a:solidFill>
                <a:latin typeface="맑은 고딕"/>
              </a:rPr>
              <a:t>"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이번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주에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어떤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핫팩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제품을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쿠팡에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얼마나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발주해야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할지"를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데이터로</a:t>
            </a:r>
            <a:r>
              <a:rPr sz="1400" b="0" dirty="0">
                <a:solidFill>
                  <a:srgbClr val="666666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맑은 고딕"/>
              </a:rPr>
              <a:t>권장한다</a:t>
            </a:r>
            <a:endParaRPr sz="1400" b="0" dirty="0">
              <a:solidFill>
                <a:srgbClr val="666666"/>
              </a:solidFill>
              <a:latin typeface="맑은 고딕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맑은 고딕"/>
              </a:rPr>
              <a:t>34개 핫팩 제품의 다음 4주치 판매량을 예측하고, 그 중 언제·어떤 제품을 몇 개 발주할지를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맑은 고딕"/>
              </a:rPr>
              <a:t>입력: 과거 판매·날씨·품절 데이터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맑은 고딕"/>
              </a:rPr>
              <a:t>  - 쿠팡 판매 기록 (1년치)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맑은 고딕"/>
              </a:rPr>
              <a:t>  - 기상청 날씨 (2년치)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맑은 고딕"/>
              </a:rPr>
              <a:t>  - 바이박스 가격·품절 정보 (5개월치)</a:t>
            </a:r>
          </a:p>
          <a:p>
            <a:pPr algn="l"/>
            <a:endParaRPr sz="15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800" b="1">
                <a:solidFill>
                  <a:srgbClr val="222222"/>
                </a:solidFill>
                <a:latin typeface="맑은 고딕"/>
              </a:rPr>
              <a:t>출력: 사람이 바로 쓸 수 있는 3가지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맑은 고딕"/>
              </a:rPr>
              <a:t>  1. 다음 N주 예상 판매량 (제품별)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맑은 고딕"/>
              </a:rPr>
              <a:t>  2. 권장 발주량 (카테고리별 + 제품별 분배)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맑은 고딕"/>
              </a:rPr>
              <a:t>  3. AI 담당자 코멘트 (날씨·트렌드 고려 3~5줄 권고)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전체 시스템 구조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원천 데이터 → 가공 → 모델 → 대시보드 흐름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737360" cy="731520"/>
          </a:xfrm>
          <a:prstGeom prst="round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쿠팡 판매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828800"/>
            <a:ext cx="1737360" cy="731520"/>
          </a:xfrm>
          <a:prstGeom prst="roundRect">
            <a:avLst/>
          </a:prstGeom>
          <a:solidFill>
            <a:srgbClr val="50B47B"/>
          </a:solidFill>
          <a:ln>
            <a:solidFill>
              <a:srgbClr val="50B4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기상청 날씨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828800"/>
            <a:ext cx="1737360" cy="731520"/>
          </a:xfrm>
          <a:prstGeom prst="roundRect">
            <a:avLst/>
          </a:prstGeom>
          <a:solidFill>
            <a:srgbClr val="E2A44A"/>
          </a:solidFill>
          <a:ln>
            <a:solidFill>
              <a:srgbClr val="E2A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바이박스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1737360" cy="731520"/>
          </a:xfrm>
          <a:prstGeom prst="roundRect">
            <a:avLst/>
          </a:prstGeom>
          <a:solidFill>
            <a:srgbClr val="B4507B"/>
          </a:solidFill>
          <a:ln>
            <a:solidFill>
              <a:srgbClr val="B45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납품률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7772400" cy="731520"/>
          </a:xfrm>
          <a:prstGeom prst="roundRect">
            <a:avLst/>
          </a:prstGeom>
          <a:solidFill>
            <a:srgbClr val="215CAF"/>
          </a:solidFill>
          <a:ln>
            <a:solidFill>
              <a:srgbClr val="21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Supabase DB (daily_performance / weather_unified / bi_box_daily / noncompliant_delivery)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2286000" cy="8229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22222"/>
                </a:solidFill>
                <a:latin typeface="맑은 고딕"/>
              </a:rPr>
              <a:t>Model A
LightGBM 예측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3931920"/>
            <a:ext cx="2286000" cy="8229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22222"/>
                </a:solidFill>
                <a:latin typeface="맑은 고딕"/>
              </a:rPr>
              <a:t>Model B
비율+분배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3931920"/>
            <a:ext cx="2286000" cy="8229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22222"/>
                </a:solidFill>
                <a:latin typeface="맑은 고딕"/>
              </a:rPr>
              <a:t>겨울 검증
정확도 측정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931920"/>
            <a:ext cx="2286000" cy="8229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22222"/>
                </a:solidFill>
                <a:latin typeface="맑은 고딕"/>
              </a:rPr>
              <a:t>AI 인사이트
GPT-4o-mini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11247120" cy="100584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FastAPI 서버 → Next.js 대시보드 (브라우저 화면)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사용 데이터 7종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각 데이터가 어디서 오고 얼마나 있는지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종류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규모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주 용도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쿠팡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일간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판매성과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실측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12,492행 (1년)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실제 판매량 (학습/검증)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기상청 ASOS + ERA5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27,385행 (2년+)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기온·강수·풍속·적설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ECMWF Open-Meteo 예보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실측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향후 15일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미래 날씨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바이박스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실측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28,679행 (5개월)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가격·품절·제품명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납품률 (쿠팡 발주)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120행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발주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판매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비율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지역별 판매 트렌드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분기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수도권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61.5%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가중치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합성 2024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생성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2,244행 (66주)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겨울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학습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샘플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증강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맑은 고딕"/>
              </a:rPr>
              <a:t>※ 이 중 겨울 실데이터가 1번만 있어 "겨울 학습 샘플" 부족 → 합성 데이터로 보완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기존 데이터의 한계 (정직한 평가)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"이 숫자를 얼마나 믿어야 하나" 판단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1. 단일 샘플 한계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- 12월, 1월 성수기가 "2025년 한 번뿐"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그 해의 프로모션·한파·경쟁사 이슈가 전체 예측에 그대로 섞임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분산 추정 불가 → 신뢰구간 폭 산출 못함</a:t>
            </a:r>
          </a:p>
          <a:p>
            <a:pPr algn="l"/>
            <a:endParaRPr sz="14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2. SKU/카테고리 혼재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예측 결과가 "카테고리 평균"이라 SKU별 세부 차이 반영 못함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"붙이는 핫팩 50g" vs "붙이는 핫팩 100g"이 같은 계수 적용됨</a:t>
            </a:r>
          </a:p>
          <a:p>
            <a:pPr algn="l"/>
            <a:endParaRPr sz="14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3. 시장 외부 요인 미반영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프로모션(쿠팡 딜, 무료배송), 경쟁사 가격 변동, 뉴스·SNS 효과 모두 빠짐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모델이 "오로지 날씨·과거 판매 패턴"으로만 예측</a:t>
            </a:r>
          </a:p>
          <a:p>
            <a:pPr algn="l"/>
            <a:endParaRPr sz="14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4. 2025-04 이상치 (SKU 라인업 미완)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붙이는 핫팩이 95개만 팔림 (2026-04 동기 대비 1/70)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 - 이 구간을 포함하면 4월 계수가 4배 과소평가됨 → 제외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왜 "더미(합성) 데이터"를 만들었나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1년치 실데이터만으로는 겨울 예측 학습 불가능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문제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쿠팡 실판매 데이터는 2025-04 ~ 2026-04 = 1년치. 겨울(12월)이 딱 한 번 등장.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이 1년을 "공부용(학습)"과 "시험용(검증)"으로 나누면: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- 학습에 겨울 넣으면 → 시험에는 겨울 없음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- 시험에 겨울 넣으면 → 학습에는 겨울 없음</a:t>
            </a:r>
          </a:p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즉 "겨울 예측 능력"을 평가할 방법이 원천적으로 없음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3B"/>
                </a:solidFill>
                <a:latin typeface="맑은 고딕"/>
              </a:rPr>
              <a:t>해결 아이디어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2024년 "가짜 판매 데이터"를 생성해서 학습 데이터에 추가</a:t>
            </a:r>
          </a:p>
          <a:p>
            <a:pPr algn="l"/>
            <a:endParaRPr sz="14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가능한 이유: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- 2024년 실제 날씨는 기상청에 기록 있음 (진짜 데이터)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- "이 날씨면 이만큼 팔렸을 것"을 2025년 실패턴으로 역산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- → 겨울 학습 샘플이 2배로 증가 (1회 → 2회)</a:t>
            </a:r>
          </a:p>
          <a:p>
            <a:pPr algn="l"/>
            <a:endParaRPr sz="14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C0392B"/>
                </a:solidFill>
                <a:latin typeface="맑은 고딕"/>
              </a:rPr>
              <a:t>중요한 규칙: 합성은 "학습에만", 시험(검증)은 반드시 "실측"으로만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더미데이터 생성 — 4단계 요리법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실측 기반 근거 체인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근거 (출처)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2025 실데이터에서 '체감온도 구간별 판매 민감도' 추출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 회귀 (54주)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2024 실날씨 → 지역 가중평균 → 체감온도 계산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기상청 ASOS + JAG/TI 2001 공식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월별 계절계수 × 체감온도 편차 × 적설 × 급강하 → 2024 판매량 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 계수 + Lee &amp; Zheng 2024 논문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실측 월별 발주/판매 비율 → 2024 납품 합성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납품률 xlsx 실측 매칭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4805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3B"/>
                </a:solidFill>
                <a:latin typeface="맑은 고딕"/>
              </a:rPr>
              <a:t>사용된 계수 17개 중 16개가 실측/공식/논문 기반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기상청 체감온도 공식 (JAG/TI 2001)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한파주의보 임계 -12℃ (기상청 고시)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급강하 임계 -5℃ (Lee &amp; Zheng 2024, JAERE)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월별 계수, 구간별 민감도, 적설 배수 등은 실데이터 회귀</a:t>
            </a:r>
          </a:p>
          <a:p>
            <a:pPr algn="l"/>
            <a:r>
              <a:rPr sz="1300" b="1">
                <a:solidFill>
                  <a:srgbClr val="FF8C00"/>
                </a:solidFill>
                <a:latin typeface="맑은 고딕"/>
              </a:rPr>
              <a:t>임의값은 단 1건: 체감온도 편차 보정 상한 ±50% (과보정 방지 안전장치)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산출되는 값 ① — Model A: 판매량 예측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"이 제품이 이번 주에 몇 개 팔릴까"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맑은 고딕"/>
              </a:rPr>
              <a:t>어떻게 예측하나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LightGBM (수백 개 작은 결정 트리의 집단 투표)</a:t>
            </a:r>
          </a:p>
          <a:p>
            <a:pPr algn="l"/>
            <a:endParaRPr sz="13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600" b="1">
                <a:solidFill>
                  <a:srgbClr val="222222"/>
                </a:solidFill>
                <a:latin typeface="맑은 고딕"/>
              </a:rPr>
              <a:t>입력 피처 14개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기온·강수·적설·풍속 (날씨)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일교차, 첫눈 주 플래그, 한파 일수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직전 1/2/4주 판매 (시계열 lag)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가격, 바이박스 점유율, 품절 여부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46304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제품 (예시)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2026-04-20 예측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하루온 군인핫팩 160g 손난로 10개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1,278개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하루온 붙이는 핫팩 50g 10매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846개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불가마 박일병 손난로 150g 10개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281개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제트 박상병 핫팩 150g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266개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114800"/>
            <a:ext cx="11247120" cy="91440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22222"/>
                </a:solidFill>
                <a:latin typeface="맑은 고딕"/>
              </a:rPr>
              <a:t>저장 위치: Supabase forecast_model_a 테이블 (132~175행, model_version별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맑은 고딕"/>
              </a:rPr>
              <a:t>대시보드 연동: /forecast/weekly-prediction 엔드포인트 → "주별 판매 추이 및 예측" 차트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산출되는 값 ② — Model B: 발주 권장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"카테고리 총 발주량 + 제품별 분배"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맑은 고딕"/>
              </a:rPr>
              <a:t>어떻게 계산하나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2단계 방식: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1) 과거 발주/판매 비율 학습 → 카테고리 총량 예측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2) 직전 N주 SKU별 판매 비율 → 제품 분배</a:t>
            </a:r>
          </a:p>
          <a:p>
            <a:pPr algn="l"/>
            <a:endParaRPr sz="13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600" b="1">
                <a:solidFill>
                  <a:srgbClr val="222222"/>
                </a:solidFill>
                <a:latin typeface="맑은 고딕"/>
              </a:rPr>
              <a:t>파라미터 (튜닝 결과)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ratio_lookback_weeks = 4 (직전 4주 평균)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sku_distribute_weeks = 2 (SKU 분배 기준 주)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4630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주차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카테고리 총량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상위 3 제품 분배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2026-04-20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2,952개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군인 1,278 / 붙이는 846 / 박일병 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2026-04-27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2,889개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축소 추세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2026-05-04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3,107개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5월 초 비시즌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572000"/>
            <a:ext cx="11247120" cy="8229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22222"/>
                </a:solidFill>
                <a:latin typeface="맑은 고딕"/>
              </a:rPr>
              <a:t>저장 위치: Supabase forecast_model_b 테이블 (481행, 카테고리 29 + SKU 452)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맑은 고딕"/>
              </a:rPr>
              <a:t>대시보드 연동: /forecast/order-simulation 엔드포인트 → "발주 시뮬레이션" 테이블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산출되는 값 ③ — AI 발주 인사이트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Model A/B 숫자를 3~5줄 자연어로 변환 (GPT-4o-mini)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맑은 고딕"/>
              </a:rPr>
              <a:t>어떻게 계산하나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권장 발주량 공식:</a:t>
            </a:r>
          </a:p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기준량 × (제품 비중% / 100) × 월별계수</a:t>
            </a:r>
          </a:p>
          <a:p>
            <a:pPr algn="l"/>
            <a:endParaRPr sz="1300" b="1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월별 계수는 카테고리별로 4종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붙이는 핫팩 (의료용·연중수요)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손난로 (겨울시즌)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일반 핫팩 (겨울시즌)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찜질팩 (11월 피크)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맑은 고딕"/>
              </a:rPr>
              <a:t>모두 실데이터 기반 (2025-04 이상치 제외)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486400" cy="493776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22222"/>
                </a:solidFill>
                <a:latin typeface="맑은 고딕"/>
              </a:rPr>
              <a:t>【실제 출력 예시 (2026-04-18)】
현재 비시즌 기간으로 Model B 예상 발주량 8,948개 기준:
• 하루온 붙이는 핫팩 50g: 4,700개
  (기준×59.8%×0.0524)
• 불가마 붙이는 핫팩: 발주 대상 아님
  (6.8개, 월 수요 미미)
• 하루온 손난로 30개: 발주 대상 아님
  (겨울시즌 계수 0.0015)
즉시 대응 권고: 붙이는 핫팩 50g 4,700개 납품 준비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정확성 검증 ① — 얼마나 맞추는가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검증 기간: 2025-10 ~ 2026-04 (27주, 실측 기반)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6666"/>
                </a:solidFill>
                <a:latin typeface="맑은 고딕"/>
              </a:rPr>
              <a:t>MAE(평균 절대 오차) = 예측값이 실제값과 평균 몇 개 차이 나는가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3774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비교 대상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MAE (주당 개수)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우리 모델 대비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우리 모델 (Model A+B, 34 SKU 합산)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31,575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Baseline 1: 전체 평균 예측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43,255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우리 모델 27% 더 정확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Baseline 2: 전주 값 복사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27,943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우리 모델 13% 나쁨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  <a:latin typeface="맑은 고딕"/>
              </a:rPr>
              <a:t>정직한 해석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단순 평균(Baseline 1)보다는 확실히 낫다 — 날씨·품절·가격 반영 효과 확인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✗ 전주값 복사(Baseline 2)보다는 오히려 떨어진다 — 시계열 관성이 강한 구간에서 모델의 피처 해석이 방해</a:t>
            </a:r>
          </a:p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  → 결론: "저 모델이 있으면 평균보다 낫고, 단순 복사보다는 작지만 근거 있는 판단을 추가한다"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정확성 검증 ② — 월별 편향 분석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어느 달에 잘 맞고 어느 달에 틀리는가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주차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실제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예측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오차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편향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2025-11-17 (초겨울)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107,393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45,672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-57%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과소 (추위 폭발 못 잡음)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2025-12-01 (성수기 진입)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205,889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81,383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-60%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과소 (첫 한파 효과)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2025-12-22 (연말)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123,982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58,730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-52%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과소 (연말 수요)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2026-02-02 (시즌 끝)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42,780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126,208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+195%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과대 (관성)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2026-02-09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19,705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39,430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+100%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</a:rPr>
                        <a:t>과대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맑은 고딕"/>
              </a:rPr>
              <a:t>근본 원인: LightGBM의 '평균화 경향'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트리 기반 모델은 극값(peak/valley)을 평균으로 눌러버림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- 12월 초 폭발을 "이상치"로 취급 → 과소 예측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- 2월 초 급락을 1월 관성으로 따라가 → 과대 예측</a:t>
            </a:r>
          </a:p>
          <a:p>
            <a:pPr algn="l"/>
            <a:endParaRPr sz="13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300" b="0">
                <a:solidFill>
                  <a:srgbClr val="2E863B"/>
                </a:solidFill>
                <a:latin typeface="맑은 고딕"/>
              </a:rPr>
              <a:t>완화 시도: first_snow_flag 피처 추가 → 2,163 → 2,143 (1% 개선)</a:t>
            </a:r>
          </a:p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근본 해결: 2년치 이상 실데이터가 쌓여야 peak/valley 패턴 학습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실무자가 바로 쓸 수 있는 시나리오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매주 월요일 아침, 대시보드에서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5CAF"/>
                </a:solidFill>
                <a:latin typeface="맑은 고딕"/>
              </a:rPr>
              <a:t>Step 1 — 이번 주 발주 결정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대시보드 "발주 시뮬레이션" 테이블에서 상위 10개 SKU 확인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예: "2026-04-20 하루온 군인핫팩 1,278개 (43.3%)" → 쿠팡 주문 시스템에 입력</a:t>
            </a:r>
          </a:p>
          <a:p>
            <a:pPr algn="l"/>
            <a:endParaRPr sz="13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800" b="1">
                <a:solidFill>
                  <a:srgbClr val="215CAF"/>
                </a:solidFill>
                <a:latin typeface="맑은 고딕"/>
              </a:rPr>
              <a:t>Step 2 — 날씨·트렌드 재확인 (AI 인사이트)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GPT-4o-mini가 "최근 7일 평균기온, 품절률, 권장량"을 3~5줄 권고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예: "비시즌이므로 판매 예측의 50~70%로 제한 권장"</a:t>
            </a:r>
          </a:p>
          <a:p>
            <a:pPr algn="l"/>
            <a:endParaRPr sz="13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800" b="1">
                <a:solidFill>
                  <a:srgbClr val="215CAF"/>
                </a:solidFill>
                <a:latin typeface="맑은 고딕"/>
              </a:rPr>
              <a:t>Step 3 — 예측 vs 실측 점검 (주 끝에)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대시보드 "겨울 검증" 차트에서 지난 주 실측 vs 예측 비교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편향이 일관되면 다음 주 발주에 보정 적용 (과소 경향 → +10% 추가 등)</a:t>
            </a:r>
          </a:p>
          <a:p>
            <a:pPr algn="l"/>
            <a:endParaRPr sz="13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800" b="1">
                <a:solidFill>
                  <a:srgbClr val="215CAF"/>
                </a:solidFill>
                <a:latin typeface="맑은 고딕"/>
              </a:rPr>
              <a:t>Step 4 — 포장 단위별 검토 (월 1회)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"포장 단위별 판매 분포" 카드에서 카테고리별 주력 옵션 확인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예: 손난로 30/60/50/20개가 95% → 이 5개 옵션 생산 집중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대시보드 화면 구성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http://localhost:3000/analytics/forecast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카드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소스</a:t>
                      </a:r>
                    </a:p>
                  </a:txBody>
                  <a:tcPr>
                    <a:solidFill>
                      <a:srgbClr val="215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① AI 발주 인사이트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3~5줄 자연어 권고 (GPT-4o-mini)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Supabase + 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② KPI 3개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누적 판매, GMV, 다음 주 예측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daily_performance / forecast_model_a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③ 판매 + 예측 차트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실선=실제, 점선=예측 (34 SKU 합산)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Supabase winter_validation + forecast_model_b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④ 겨울 검증 카드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27주 실측 vs 예측 막대 + 편향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winter_validation (grain=weekly)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⑤ 포장 단위 분포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카테고리 탭 + 옵션별 판매 비중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daily_performance 파싱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⑥ 발주 시뮬레이션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상위 50 SKU 권장 발주량 + 비중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</a:rPr>
                        <a:t>forecast_model_b (sku_id NOT NULL)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949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맑은 고딕"/>
              </a:rPr>
              <a:t>모든 카드가 Supabase 우선 + 로컬 CSV 자동 fallback 설계로 배치 실패 시에도 화면 유지</a:t>
            </a:r>
          </a:p>
          <a:p>
            <a:pPr algn="l"/>
            <a:r>
              <a:rPr sz="1200" b="1">
                <a:solidFill>
                  <a:srgbClr val="FF8C00"/>
                </a:solidFill>
                <a:latin typeface="맑은 고딕"/>
              </a:rPr>
              <a:t>※ 실제 스크린샷은 별도 첨부 권장 (브라우저에서 캡처)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개선 계획 (단기 / 중기 / 장기)</a:t>
            </a:r>
          </a:p>
          <a:p>
            <a:r>
              <a:rPr sz="1400" b="0">
                <a:solidFill>
                  <a:srgbClr val="666666"/>
                </a:solidFill>
                <a:latin typeface="맑은 고딕"/>
              </a:rPr>
              <a:t>현재 한계를 어떻게 해결할 것인가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3B"/>
                </a:solidFill>
                <a:latin typeface="맑은 고딕"/>
              </a:rPr>
              <a:t>단기 (한 시즌 내)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2025-04 이상치 재검증 (바이박스 SKU 라인업 히스토리 확인)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카테고리별 Model A 별도 학습 vs 글로벌 모델 재비교</a:t>
            </a:r>
          </a:p>
          <a:p>
            <a:pPr algn="l"/>
            <a:endParaRPr sz="13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800" b="1">
                <a:solidFill>
                  <a:srgbClr val="215CAF"/>
                </a:solidFill>
                <a:latin typeface="맑은 고딕"/>
              </a:rPr>
              <a:t>중기 (2026~2027 시즌 완료 후)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2년치 누적 데이터로 월별 계수 재계산 — 신뢰구간 추가, 이상치 자동 탐지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SKU × 월 단위 계수 세분화 (카테고리 단위 → SKU 단위)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프로모션 플래그·경쟁사 가격 피처 추가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LightGBM 평균화 경향 → peak/valley 보정 기법 도입 (quantile forest 등)</a:t>
            </a:r>
          </a:p>
          <a:p>
            <a:pPr algn="l"/>
            <a:endParaRPr sz="13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800" b="1">
                <a:solidFill>
                  <a:srgbClr val="FF8C00"/>
                </a:solidFill>
                <a:latin typeface="맑은 고딕"/>
              </a:rPr>
              <a:t>장기 (2년+ 데이터 축적)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기상청 평년값 대비 편차 보정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의료용 카테고리 업계 통계(건강보험심사평가원 파스 처방)와 교차 검증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맑은 고딕"/>
              </a:rPr>
              <a:t>  ✓ 시즌별 계수 자동 업데이트 파이프라인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5CAF"/>
                </a:solidFill>
                <a:latin typeface="맑은 고딕"/>
              </a:rPr>
              <a:t>요약 — 이 시스템이 주는 가치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1247120" cy="1097280"/>
          </a:xfrm>
          <a:prstGeom prst="roundRect">
            <a:avLst/>
          </a:prstGeom>
          <a:solidFill>
            <a:srgbClr val="215CAF"/>
          </a:solidFill>
          <a:ln>
            <a:solidFill>
              <a:srgbClr val="215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"주관적 감"을 넘어 "데이터 기반 발주 권고"로 이동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63B"/>
                </a:solidFill>
                <a:latin typeface="맑은 고딕"/>
              </a:rPr>
              <a:t>얻은 것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34개 핫팩 제품 주단위 판매 예측 (Model A LightGBM)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카테고리 + SKU 분배 발주 권장 (Model B 비율 모델)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3~5줄 자연어 권고 (GPT-4o-mini, 카테고리별 월별 계수 반영)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단순 평균 대비 27% 더 정확</a:t>
            </a:r>
          </a:p>
          <a:p>
            <a:pPr algn="l"/>
            <a:endParaRPr sz="14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800" b="1">
                <a:solidFill>
                  <a:srgbClr val="C0392B"/>
                </a:solidFill>
                <a:latin typeface="맑은 고딕"/>
              </a:rPr>
              <a:t>한계 (정직히)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1년치 데이터로 겨울 극값 학습 불가 → 2년치 쌓일 때까지 보수적 권고 유지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프로모션·경쟁사·뉴스 외부 요인 미반영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맑은 고딕"/>
              </a:rPr>
              <a:t>  • 전주 복사 대비 오히려 떨어지는 구간 존재 (관성이 강한 시기)</a:t>
            </a:r>
          </a:p>
          <a:p>
            <a:pPr algn="l"/>
            <a:endParaRPr sz="1400" b="0">
              <a:solidFill>
                <a:srgbClr val="222222"/>
              </a:solidFill>
              <a:latin typeface="맑은 고딕"/>
            </a:endParaRPr>
          </a:p>
          <a:p>
            <a:pPr algn="l"/>
            <a:r>
              <a:rPr sz="1400" b="1">
                <a:solidFill>
                  <a:srgbClr val="215CAF"/>
                </a:solidFill>
                <a:latin typeface="맑은 고딕"/>
              </a:rPr>
              <a:t>다음 스텝: PM DB 재구축 완료 후 E2E 파이프라인 주간 자동 실행, 다음 시즌 데이터 축적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2213</Words>
  <Application>Microsoft Office PowerPoint</Application>
  <PresentationFormat>와이드스크린</PresentationFormat>
  <Paragraphs>308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2026-04-20T01:16:51Z</dcterms:modified>
  <cp:category/>
</cp:coreProperties>
</file>