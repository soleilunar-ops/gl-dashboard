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5CAF"/>
          </a:solidFill>
          <a:ln>
            <a:solidFill>
              <a:srgbClr val="215C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맑은 고딕"/>
              </a:rPr>
              <a:t>하루온 핫팩 수요 예측 시스템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FFFFFF"/>
                </a:solidFill>
                <a:latin typeface="맑은 고딕"/>
              </a:rPr>
              <a:t>비전공자를 위한 시스템 구조·데이터·정확성 설명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DDDDDD"/>
                </a:solidFill>
                <a:latin typeface="맑은 고딕"/>
              </a:rPr>
              <a:t>2026-04-19 · (주)지엘 수요 예측 파트 · 정민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15CAF"/>
                </a:solidFill>
                <a:latin typeface="맑은 고딕"/>
              </a:rPr>
              <a:t>이 시스템이 하는 일 (한 줄)</a:t>
            </a:r>
          </a:p>
          <a:p>
            <a:r>
              <a:rPr sz="1400" b="0">
                <a:solidFill>
                  <a:srgbClr val="666666"/>
                </a:solidFill>
                <a:latin typeface="맑은 고딕"/>
              </a:rPr>
              <a:t>"이번 주에 어떤 핫팩 제품을 쿠팡에 얼마나 발주해야 할지"를 데이터로 권장한다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698480" cy="1097280"/>
          </a:xfrm>
          <a:prstGeom prst="roundRect">
            <a:avLst/>
          </a:prstGeom>
          <a:solidFill>
            <a:srgbClr val="F4F6F8"/>
          </a:solidFill>
          <a:ln>
            <a:solidFill>
              <a:srgbClr val="F4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22222"/>
                </a:solidFill>
                <a:latin typeface="맑은 고딕"/>
              </a:rPr>
              <a:t>34개 핫팩 제품의 다음 4주치 판매량을 예측하고, 그 중 언제·어떤 제품을 몇 개 발주할지를 계산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698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22222"/>
                </a:solidFill>
                <a:latin typeface="맑은 고딕"/>
              </a:rPr>
              <a:t>입력: 과거 판매·날씨·품절 데이터</a:t>
            </a:r>
          </a:p>
          <a:p>
            <a:pPr algn="l"/>
            <a:r>
              <a:rPr sz="1500" b="0">
                <a:solidFill>
                  <a:srgbClr val="222222"/>
                </a:solidFill>
                <a:latin typeface="맑은 고딕"/>
              </a:rPr>
              <a:t>  - 쿠팡 판매 기록 (1년치)</a:t>
            </a:r>
          </a:p>
          <a:p>
            <a:pPr algn="l"/>
            <a:r>
              <a:rPr sz="1500" b="0">
                <a:solidFill>
                  <a:srgbClr val="222222"/>
                </a:solidFill>
                <a:latin typeface="맑은 고딕"/>
              </a:rPr>
              <a:t>  - 기상청 날씨 (2년치)</a:t>
            </a:r>
          </a:p>
          <a:p>
            <a:pPr algn="l"/>
            <a:r>
              <a:rPr sz="1500" b="0">
                <a:solidFill>
                  <a:srgbClr val="222222"/>
                </a:solidFill>
                <a:latin typeface="맑은 고딕"/>
              </a:rPr>
              <a:t>  - 바이박스 가격·품절 정보 (5개월치)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맑은 고딕"/>
              </a:rPr>
              <a:t/>
            </a:r>
          </a:p>
          <a:p>
            <a:pPr algn="l"/>
            <a:r>
              <a:rPr sz="1800" b="1">
                <a:solidFill>
                  <a:srgbClr val="222222"/>
                </a:solidFill>
                <a:latin typeface="맑은 고딕"/>
              </a:rPr>
              <a:t>출력: 사람이 바로 쓸 수 있는 3가지</a:t>
            </a:r>
          </a:p>
          <a:p>
            <a:pPr algn="l"/>
            <a:r>
              <a:rPr sz="1500" b="0">
                <a:solidFill>
                  <a:srgbClr val="222222"/>
                </a:solidFill>
                <a:latin typeface="맑은 고딕"/>
              </a:rPr>
              <a:t>  1. 다음 N주 예상 판매량 (제품별)</a:t>
            </a:r>
          </a:p>
          <a:p>
            <a:pPr algn="l"/>
            <a:r>
              <a:rPr sz="1500" b="0">
                <a:solidFill>
                  <a:srgbClr val="222222"/>
                </a:solidFill>
                <a:latin typeface="맑은 고딕"/>
              </a:rPr>
              <a:t>  2. 권장 발주량 (카테고리별 + 제품별 분배)</a:t>
            </a:r>
          </a:p>
          <a:p>
            <a:pPr algn="l"/>
            <a:r>
              <a:rPr sz="1500" b="0">
                <a:solidFill>
                  <a:srgbClr val="222222"/>
                </a:solidFill>
                <a:latin typeface="맑은 고딕"/>
              </a:rPr>
              <a:t>  3. AI 담당자 코멘트 (날씨·트렌드 고려 3~5줄 권고)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15CAF"/>
                </a:solidFill>
                <a:latin typeface="맑은 고딕"/>
              </a:rPr>
              <a:t>전체 시스템 구조</a:t>
            </a:r>
          </a:p>
          <a:p>
            <a:r>
              <a:rPr sz="1400" b="0">
                <a:solidFill>
                  <a:srgbClr val="666666"/>
                </a:solidFill>
                <a:latin typeface="맑은 고딕"/>
              </a:rPr>
              <a:t>원천 데이터 → 가공 → 모델 → 대시보드 흐름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1737360" cy="731520"/>
          </a:xfrm>
          <a:prstGeom prst="roundRect">
            <a:avLst/>
          </a:prstGeom>
          <a:solidFill>
            <a:srgbClr val="4A90E2"/>
          </a:solidFill>
          <a:ln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쿠팡 판매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68880" y="1828800"/>
            <a:ext cx="1737360" cy="731520"/>
          </a:xfrm>
          <a:prstGeom prst="roundRect">
            <a:avLst/>
          </a:prstGeom>
          <a:solidFill>
            <a:srgbClr val="50B47B"/>
          </a:solidFill>
          <a:ln>
            <a:solidFill>
              <a:srgbClr val="50B4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기상청 날씨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1828800"/>
            <a:ext cx="1737360" cy="731520"/>
          </a:xfrm>
          <a:prstGeom prst="roundRect">
            <a:avLst/>
          </a:prstGeom>
          <a:solidFill>
            <a:srgbClr val="E2A44A"/>
          </a:solidFill>
          <a:ln>
            <a:solidFill>
              <a:srgbClr val="E2A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바이박스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828800"/>
            <a:ext cx="1737360" cy="731520"/>
          </a:xfrm>
          <a:prstGeom prst="roundRect">
            <a:avLst/>
          </a:prstGeom>
          <a:solidFill>
            <a:srgbClr val="B4507B"/>
          </a:solidFill>
          <a:ln>
            <a:solidFill>
              <a:srgbClr val="B450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납품률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926080"/>
            <a:ext cx="7772400" cy="731520"/>
          </a:xfrm>
          <a:prstGeom prst="roundRect">
            <a:avLst/>
          </a:prstGeom>
          <a:solidFill>
            <a:srgbClr val="215CAF"/>
          </a:solidFill>
          <a:ln>
            <a:solidFill>
              <a:srgbClr val="215C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Supabase DB (daily_performance / weather_unified / bi_box_daily / noncompliant_delivery)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931920"/>
            <a:ext cx="2286000" cy="822960"/>
          </a:xfrm>
          <a:prstGeom prst="roundRect">
            <a:avLst/>
          </a:prstGeom>
          <a:solidFill>
            <a:srgbClr val="F4F6F8"/>
          </a:solidFill>
          <a:ln>
            <a:solidFill>
              <a:srgbClr val="F4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22222"/>
                </a:solidFill>
                <a:latin typeface="맑은 고딕"/>
              </a:rPr>
              <a:t>Model A
LightGBM 예측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3931920"/>
            <a:ext cx="2286000" cy="822960"/>
          </a:xfrm>
          <a:prstGeom prst="roundRect">
            <a:avLst/>
          </a:prstGeom>
          <a:solidFill>
            <a:srgbClr val="F4F6F8"/>
          </a:solidFill>
          <a:ln>
            <a:solidFill>
              <a:srgbClr val="F4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22222"/>
                </a:solidFill>
                <a:latin typeface="맑은 고딕"/>
              </a:rPr>
              <a:t>Model B
비율+분배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12080" y="3931920"/>
            <a:ext cx="2286000" cy="822960"/>
          </a:xfrm>
          <a:prstGeom prst="roundRect">
            <a:avLst/>
          </a:prstGeom>
          <a:solidFill>
            <a:srgbClr val="F4F6F8"/>
          </a:solidFill>
          <a:ln>
            <a:solidFill>
              <a:srgbClr val="F4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22222"/>
                </a:solidFill>
                <a:latin typeface="맑은 고딕"/>
              </a:rPr>
              <a:t>겨울 검증
정확도 측정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3931920"/>
            <a:ext cx="2286000" cy="822960"/>
          </a:xfrm>
          <a:prstGeom prst="roundRect">
            <a:avLst/>
          </a:prstGeom>
          <a:solidFill>
            <a:srgbClr val="F4F6F8"/>
          </a:solidFill>
          <a:ln>
            <a:solidFill>
              <a:srgbClr val="F4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22222"/>
                </a:solidFill>
                <a:latin typeface="맑은 고딕"/>
              </a:rPr>
              <a:t>AI 인사이트
GPT-4o-mini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029200"/>
            <a:ext cx="11247120" cy="1005840"/>
          </a:xfrm>
          <a:prstGeom prst="roundRect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FastAPI 서버 → Next.js 대시보드 (브라우저 화면)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15CAF"/>
                </a:solidFill>
                <a:latin typeface="맑은 고딕"/>
              </a:rPr>
              <a:t>사용 데이터 7종</a:t>
            </a:r>
          </a:p>
          <a:p>
            <a:r>
              <a:rPr sz="1400" b="0">
                <a:solidFill>
                  <a:srgbClr val="666666"/>
                </a:solidFill>
                <a:latin typeface="맑은 고딕"/>
              </a:rPr>
              <a:t>각 데이터가 어디서 오고 얼마나 있는지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데이터</a:t>
                      </a:r>
                    </a:p>
                  </a:txBody>
                  <a:tcPr>
                    <a:solidFill>
                      <a:srgbClr val="215C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종류</a:t>
                      </a:r>
                    </a:p>
                  </a:txBody>
                  <a:tcPr>
                    <a:solidFill>
                      <a:srgbClr val="215C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규모</a:t>
                      </a:r>
                    </a:p>
                  </a:txBody>
                  <a:tcPr>
                    <a:solidFill>
                      <a:srgbClr val="215C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주 용도</a:t>
                      </a:r>
                    </a:p>
                  </a:txBody>
                  <a:tcPr>
                    <a:solidFill>
                      <a:srgbClr val="215CA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쿠팡 일간 판매성과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실측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12,492행 (1년)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실제 판매량 (학습/검증)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기상청 ASOS + ERA5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실측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27,385행 (2년+)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기온·강수·풍속·적설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ECMWF Open-Meteo 예보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실측 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향후 15일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미래 날씨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바이박스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실측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28,679행 (5개월)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가격·품절·제품명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납품률 (쿠팡 발주)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실측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120행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발주/판매 비율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지역별 판매 트렌드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실측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분기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수도권 61.5% 가중치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합성 2024 데이터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생성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2,244행 (66주)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겨울 학습 샘플 증강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8521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맑은 고딕"/>
              </a:rPr>
              <a:t>※ 이 중 겨울 실데이터가 1번만 있어 "겨울 학습 샘플" 부족 → 합성 데이터로 보완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15CAF"/>
                </a:solidFill>
                <a:latin typeface="맑은 고딕"/>
              </a:rPr>
              <a:t>기존 데이터의 한계 (정직한 평가)</a:t>
            </a:r>
          </a:p>
          <a:p>
            <a:r>
              <a:rPr sz="1400" b="0">
                <a:solidFill>
                  <a:srgbClr val="666666"/>
                </a:solidFill>
                <a:latin typeface="맑은 고딕"/>
              </a:rPr>
              <a:t>"이 숫자를 얼마나 믿어야 하나" 판단 근거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0392B"/>
                </a:solidFill>
                <a:latin typeface="맑은 고딕"/>
              </a:rPr>
              <a:t>1. 단일 샘플 한계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맑은 고딕"/>
              </a:rPr>
              <a:t>   - 12월, 1월 성수기가 "2025년 한 번뿐"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맑은 고딕"/>
              </a:rPr>
              <a:t>   - 그 해의 프로모션·한파·경쟁사 이슈가 전체 예측에 그대로 섞임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맑은 고딕"/>
              </a:rPr>
              <a:t>   - 분산 추정 불가 → 신뢰구간 폭 산출 못함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맑은 고딕"/>
              </a:rPr>
              <a:t/>
            </a:r>
          </a:p>
          <a:p>
            <a:pPr algn="l"/>
            <a:r>
              <a:rPr sz="1800" b="1">
                <a:solidFill>
                  <a:srgbClr val="C0392B"/>
                </a:solidFill>
                <a:latin typeface="맑은 고딕"/>
              </a:rPr>
              <a:t>2. SKU/카테고리 혼재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맑은 고딕"/>
              </a:rPr>
              <a:t>   - 예측 결과가 "카테고리 평균"이라 SKU별 세부 차이 반영 못함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맑은 고딕"/>
              </a:rPr>
              <a:t>   - "붙이는 핫팩 50g" vs "붙이는 핫팩 100g"이 같은 계수 적용됨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맑은 고딕"/>
              </a:rPr>
              <a:t/>
            </a:r>
          </a:p>
          <a:p>
            <a:pPr algn="l"/>
            <a:r>
              <a:rPr sz="1800" b="1">
                <a:solidFill>
                  <a:srgbClr val="C0392B"/>
                </a:solidFill>
                <a:latin typeface="맑은 고딕"/>
              </a:rPr>
              <a:t>3. 시장 외부 요인 미반영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맑은 고딕"/>
              </a:rPr>
              <a:t>   - 프로모션(쿠팡 딜, 무료배송), 경쟁사 가격 변동, 뉴스·SNS 효과 모두 빠짐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맑은 고딕"/>
              </a:rPr>
              <a:t>   - 모델이 "오로지 날씨·과거 판매 패턴"으로만 예측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맑은 고딕"/>
              </a:rPr>
              <a:t/>
            </a:r>
          </a:p>
          <a:p>
            <a:pPr algn="l"/>
            <a:r>
              <a:rPr sz="1800" b="1">
                <a:solidFill>
                  <a:srgbClr val="C0392B"/>
                </a:solidFill>
                <a:latin typeface="맑은 고딕"/>
              </a:rPr>
              <a:t>4. 2025-04 이상치 (SKU 라인업 미완)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맑은 고딕"/>
              </a:rPr>
              <a:t>   - 붙이는 핫팩이 95개만 팔림 (2026-04 동기 대비 1/70)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맑은 고딕"/>
              </a:rPr>
              <a:t>   - 이 구간을 포함하면 4월 계수가 4배 과소평가됨 → 제외 처리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15CAF"/>
                </a:solidFill>
                <a:latin typeface="맑은 고딕"/>
              </a:rPr>
              <a:t>왜 "더미(합성) 데이터"를 만들었나</a:t>
            </a:r>
          </a:p>
          <a:p>
            <a:r>
              <a:rPr sz="1400" b="0">
                <a:solidFill>
                  <a:srgbClr val="666666"/>
                </a:solidFill>
                <a:latin typeface="맑은 고딕"/>
              </a:rPr>
              <a:t>1년치 실데이터만으로는 겨울 예측 학습 불가능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1247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0392B"/>
                </a:solidFill>
                <a:latin typeface="맑은 고딕"/>
              </a:rPr>
              <a:t>문제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맑은 고딕"/>
              </a:rPr>
              <a:t>쿠팡 실판매 데이터는 2025-04 ~ 2026-04 = 1년치. 겨울(12월)이 딱 한 번 등장.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맑은 고딕"/>
              </a:rPr>
              <a:t>이 1년을 "공부용(학습)"과 "시험용(검증)"으로 나누면: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맑은 고딕"/>
              </a:rPr>
              <a:t>  - 학습에 겨울 넣으면 → 시험에는 겨울 없음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맑은 고딕"/>
              </a:rPr>
              <a:t>  - 시험에 겨울 넣으면 → 학습에는 겨울 없음</a:t>
            </a:r>
          </a:p>
          <a:p>
            <a:pPr algn="l"/>
            <a:r>
              <a:rPr sz="1400" b="1">
                <a:solidFill>
                  <a:srgbClr val="222222"/>
                </a:solidFill>
                <a:latin typeface="맑은 고딕"/>
              </a:rPr>
              <a:t>즉 "겨울 예측 능력"을 평가할 방법이 원천적으로 없음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12471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863B"/>
                </a:solidFill>
                <a:latin typeface="맑은 고딕"/>
              </a:rPr>
              <a:t>해결 아이디어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맑은 고딕"/>
              </a:rPr>
              <a:t>2024년 "가짜 판매 데이터"를 생성해서 학습 데이터에 추가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맑은 고딕"/>
              </a:rPr>
              <a:t/>
            </a:r>
          </a:p>
          <a:p>
            <a:pPr algn="l"/>
            <a:r>
              <a:rPr sz="1400" b="1">
                <a:solidFill>
                  <a:srgbClr val="222222"/>
                </a:solidFill>
                <a:latin typeface="맑은 고딕"/>
              </a:rPr>
              <a:t>가능한 이유: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맑은 고딕"/>
              </a:rPr>
              <a:t>  - 2024년 실제 날씨는 기상청에 기록 있음 (진짜 데이터)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맑은 고딕"/>
              </a:rPr>
              <a:t>  - "이 날씨면 이만큼 팔렸을 것"을 2025년 실패턴으로 역산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맑은 고딕"/>
              </a:rPr>
              <a:t>  - → 겨울 학습 샘플이 2배로 증가 (1회 → 2회)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맑은 고딕"/>
              </a:rPr>
              <a:t/>
            </a:r>
          </a:p>
          <a:p>
            <a:pPr algn="l"/>
            <a:r>
              <a:rPr sz="1400" b="1">
                <a:solidFill>
                  <a:srgbClr val="C0392B"/>
                </a:solidFill>
                <a:latin typeface="맑은 고딕"/>
              </a:rPr>
              <a:t>중요한 규칙: 합성은 "학습에만", 시험(검증)은 반드시 "실측"으로만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15CAF"/>
                </a:solidFill>
                <a:latin typeface="맑은 고딕"/>
              </a:rPr>
              <a:t>더미데이터 생성 — 4단계 요리법</a:t>
            </a:r>
          </a:p>
          <a:p>
            <a:r>
              <a:rPr sz="1400" b="0">
                <a:solidFill>
                  <a:srgbClr val="666666"/>
                </a:solidFill>
                <a:latin typeface="맑은 고딕"/>
              </a:rPr>
              <a:t>실측 기반 근거 체인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단계</a:t>
                      </a:r>
                    </a:p>
                  </a:txBody>
                  <a:tcPr>
                    <a:solidFill>
                      <a:srgbClr val="215C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하는 일</a:t>
                      </a:r>
                    </a:p>
                  </a:txBody>
                  <a:tcPr>
                    <a:solidFill>
                      <a:srgbClr val="215C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근거 (출처)</a:t>
                      </a:r>
                    </a:p>
                  </a:txBody>
                  <a:tcPr>
                    <a:solidFill>
                      <a:srgbClr val="215CA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2025 실데이터에서 '체감온도 구간별 판매 민감도' 추출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실측 회귀 (54주)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2024 실날씨 → 지역 가중평균 → 체감온도 계산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기상청 ASOS + JAG/TI 2001 공식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월별 계절계수 × 체감온도 편차 × 적설 × 급강하 → 2024 판매량 합성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실측 계수 + Lee &amp; Zheng 2024 논문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4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실측 월별 발주/판매 비율 → 2024 납품 합성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납품률 xlsx 실측 매칭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480560"/>
            <a:ext cx="112471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863B"/>
                </a:solidFill>
                <a:latin typeface="맑은 고딕"/>
              </a:rPr>
              <a:t>사용된 계수 17개 중 16개가 실측/공식/논문 기반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맑은 고딕"/>
              </a:rPr>
              <a:t>  - 기상청 체감온도 공식 (JAG/TI 2001)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맑은 고딕"/>
              </a:rPr>
              <a:t>  - 한파주의보 임계 -12℃ (기상청 고시)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맑은 고딕"/>
              </a:rPr>
              <a:t>  - 급강하 임계 -5℃ (Lee &amp; Zheng 2024, JAERE)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맑은 고딕"/>
              </a:rPr>
              <a:t>  - 월별 계수, 구간별 민감도, 적설 배수 등은 실데이터 회귀</a:t>
            </a:r>
          </a:p>
          <a:p>
            <a:pPr algn="l"/>
            <a:r>
              <a:rPr sz="1300" b="1">
                <a:solidFill>
                  <a:srgbClr val="FF8C00"/>
                </a:solidFill>
                <a:latin typeface="맑은 고딕"/>
              </a:rPr>
              <a:t>임의값은 단 1건: 체감온도 편차 보정 상한 ±50% (과보정 방지 안전장치)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15CAF"/>
                </a:solidFill>
                <a:latin typeface="맑은 고딕"/>
              </a:rPr>
              <a:t>산출되는 값 ① — Model A: 판매량 예측</a:t>
            </a:r>
          </a:p>
          <a:p>
            <a:r>
              <a:rPr sz="1400" b="0">
                <a:solidFill>
                  <a:srgbClr val="666666"/>
                </a:solidFill>
                <a:latin typeface="맑은 고딕"/>
              </a:rPr>
              <a:t>"이 제품이 이번 주에 몇 개 팔릴까"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22222"/>
                </a:solidFill>
                <a:latin typeface="맑은 고딕"/>
              </a:rPr>
              <a:t>어떻게 예측하나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맑은 고딕"/>
              </a:rPr>
              <a:t>LightGBM (수백 개 작은 결정 트리의 집단 투표)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맑은 고딕"/>
              </a:rPr>
              <a:t/>
            </a:r>
          </a:p>
          <a:p>
            <a:pPr algn="l"/>
            <a:r>
              <a:rPr sz="1600" b="1">
                <a:solidFill>
                  <a:srgbClr val="222222"/>
                </a:solidFill>
                <a:latin typeface="맑은 고딕"/>
              </a:rPr>
              <a:t>입력 피처 14개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맑은 고딕"/>
              </a:rPr>
              <a:t>  기온·강수·적설·풍속 (날씨)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맑은 고딕"/>
              </a:rPr>
              <a:t>  일교차, 첫눈 주 플래그, 한파 일수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맑은 고딕"/>
              </a:rPr>
              <a:t>  직전 1/2/4주 판매 (시계열 lag)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맑은 고딕"/>
              </a:rPr>
              <a:t>  가격, 바이박스 점유율, 품절 여부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217920" y="1463040"/>
          <a:ext cx="5486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제품 (예시)</a:t>
                      </a:r>
                    </a:p>
                  </a:txBody>
                  <a:tcPr>
                    <a:solidFill>
                      <a:srgbClr val="215C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2026-04-20 예측</a:t>
                      </a:r>
                    </a:p>
                  </a:txBody>
                  <a:tcPr>
                    <a:solidFill>
                      <a:srgbClr val="215CA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</a:rPr>
                        <a:t>하루온 군인핫팩 160g 손난로 10개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</a:rPr>
                        <a:t>1,278개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</a:rPr>
                        <a:t>하루온 붙이는 핫팩 50g 10매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</a:rPr>
                        <a:t>846개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</a:rPr>
                        <a:t>불가마 박일병 손난로 150g 10개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</a:rPr>
                        <a:t>281개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</a:rPr>
                        <a:t>제트 박상병 핫팩 150g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</a:rPr>
                        <a:t>266개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4114800"/>
            <a:ext cx="11247120" cy="914400"/>
          </a:xfrm>
          <a:prstGeom prst="roundRect">
            <a:avLst/>
          </a:prstGeom>
          <a:solidFill>
            <a:srgbClr val="F4F6F8"/>
          </a:solidFill>
          <a:ln>
            <a:solidFill>
              <a:srgbClr val="F4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22222"/>
                </a:solidFill>
                <a:latin typeface="맑은 고딕"/>
              </a:rPr>
              <a:t>저장 위치: Supabase forecast_model_a 테이블 (132~175행, model_version별 구분)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맑은 고딕"/>
              </a:rPr>
              <a:t>대시보드 연동: /forecast/weekly-prediction 엔드포인트 → "주별 판매 추이 및 예측" 차트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15CAF"/>
                </a:solidFill>
                <a:latin typeface="맑은 고딕"/>
              </a:rPr>
              <a:t>산출되는 값 ② — Model B: 발주 권장</a:t>
            </a:r>
          </a:p>
          <a:p>
            <a:r>
              <a:rPr sz="1400" b="0">
                <a:solidFill>
                  <a:srgbClr val="666666"/>
                </a:solidFill>
                <a:latin typeface="맑은 고딕"/>
              </a:rPr>
              <a:t>"카테고리 총 발주량 + 제품별 분배"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22222"/>
                </a:solidFill>
                <a:latin typeface="맑은 고딕"/>
              </a:rPr>
              <a:t>어떻게 계산하나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맑은 고딕"/>
              </a:rPr>
              <a:t>2단계 방식: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맑은 고딕"/>
              </a:rPr>
              <a:t>  1) 과거 발주/판매 비율 학습 → 카테고리 총량 예측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맑은 고딕"/>
              </a:rPr>
              <a:t>  2) 직전 N주 SKU별 판매 비율 → 제품 분배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맑은 고딕"/>
              </a:rPr>
              <a:t/>
            </a:r>
          </a:p>
          <a:p>
            <a:pPr algn="l"/>
            <a:r>
              <a:rPr sz="1600" b="1">
                <a:solidFill>
                  <a:srgbClr val="222222"/>
                </a:solidFill>
                <a:latin typeface="맑은 고딕"/>
              </a:rPr>
              <a:t>파라미터 (튜닝 결과)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맑은 고딕"/>
              </a:rPr>
              <a:t>  ratio_lookback_weeks = 4 (직전 4주 평균)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맑은 고딕"/>
              </a:rPr>
              <a:t>  sku_distribute_weeks = 2 (SKU 분배 기준 주)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217920" y="146304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주차</a:t>
                      </a:r>
                    </a:p>
                  </a:txBody>
                  <a:tcPr>
                    <a:solidFill>
                      <a:srgbClr val="215C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카테고리 총량</a:t>
                      </a:r>
                    </a:p>
                  </a:txBody>
                  <a:tcPr>
                    <a:solidFill>
                      <a:srgbClr val="215C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상위 3 제품 분배</a:t>
                      </a:r>
                    </a:p>
                  </a:txBody>
                  <a:tcPr>
                    <a:solidFill>
                      <a:srgbClr val="215CA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</a:rPr>
                        <a:t>2026-04-20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</a:rPr>
                        <a:t>2,952개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</a:rPr>
                        <a:t>군인 1,278 / 붙이는 846 / 박일병 281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</a:rPr>
                        <a:t>2026-04-27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</a:rPr>
                        <a:t>2,889개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</a:rPr>
                        <a:t>축소 추세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</a:rPr>
                        <a:t>2026-05-04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</a:rPr>
                        <a:t>3,107개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</a:rPr>
                        <a:t>5월 초 비시즌 유지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4572000"/>
            <a:ext cx="11247120" cy="822960"/>
          </a:xfrm>
          <a:prstGeom prst="roundRect">
            <a:avLst/>
          </a:prstGeom>
          <a:solidFill>
            <a:srgbClr val="F4F6F8"/>
          </a:solidFill>
          <a:ln>
            <a:solidFill>
              <a:srgbClr val="F4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22222"/>
                </a:solidFill>
                <a:latin typeface="맑은 고딕"/>
              </a:rPr>
              <a:t>저장 위치: Supabase forecast_model_b 테이블 (481행, 카테고리 29 + SKU 452)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5778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맑은 고딕"/>
              </a:rPr>
              <a:t>대시보드 연동: /forecast/order-simulation 엔드포인트 → "발주 시뮬레이션" 테이블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15CAF"/>
                </a:solidFill>
                <a:latin typeface="맑은 고딕"/>
              </a:rPr>
              <a:t>산출되는 값 ③ — AI 발주 인사이트</a:t>
            </a:r>
          </a:p>
          <a:p>
            <a:r>
              <a:rPr sz="1400" b="0">
                <a:solidFill>
                  <a:srgbClr val="666666"/>
                </a:solidFill>
                <a:latin typeface="맑은 고딕"/>
              </a:rPr>
              <a:t>Model A/B 숫자를 3~5줄 자연어로 변환 (GPT-4o-mini)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22222"/>
                </a:solidFill>
                <a:latin typeface="맑은 고딕"/>
              </a:rPr>
              <a:t>어떻게 계산하나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맑은 고딕"/>
              </a:rPr>
              <a:t>권장 발주량 공식:</a:t>
            </a:r>
          </a:p>
          <a:p>
            <a:pPr algn="l"/>
            <a:r>
              <a:rPr sz="1300" b="1">
                <a:solidFill>
                  <a:srgbClr val="222222"/>
                </a:solidFill>
                <a:latin typeface="맑은 고딕"/>
              </a:rPr>
              <a:t>기준량 × (제품 비중% / 100) × 월별계수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맑은 고딕"/>
              </a:rPr>
              <a:t/>
            </a:r>
          </a:p>
          <a:p>
            <a:pPr algn="l"/>
            <a:r>
              <a:rPr sz="1400" b="1">
                <a:solidFill>
                  <a:srgbClr val="222222"/>
                </a:solidFill>
                <a:latin typeface="맑은 고딕"/>
              </a:rPr>
              <a:t>월별 계수는 카테고리별로 4종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맑은 고딕"/>
              </a:rPr>
              <a:t>  - 붙이는 핫팩 (의료용·연중수요)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맑은 고딕"/>
              </a:rPr>
              <a:t>  - 손난로 (겨울시즌)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맑은 고딕"/>
              </a:rPr>
              <a:t>  - 일반 핫팩 (겨울시즌)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맑은 고딕"/>
              </a:rPr>
              <a:t>  - 찜질팩 (11월 피크)</a:t>
            </a:r>
          </a:p>
          <a:p>
            <a:pPr algn="l"/>
            <a:r>
              <a:rPr sz="1200" b="0">
                <a:solidFill>
                  <a:srgbClr val="666666"/>
                </a:solidFill>
                <a:latin typeface="맑은 고딕"/>
              </a:rPr>
              <a:t>모두 실데이터 기반 (2025-04 이상치 제외)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486400" cy="4937760"/>
          </a:xfrm>
          <a:prstGeom prst="roundRect">
            <a:avLst/>
          </a:prstGeom>
          <a:solidFill>
            <a:srgbClr val="F4F6F8"/>
          </a:solidFill>
          <a:ln>
            <a:solidFill>
              <a:srgbClr val="F4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22222"/>
                </a:solidFill>
                <a:latin typeface="맑은 고딕"/>
              </a:rPr>
              <a:t>【실제 출력 예시 (2026-04-18)】
현재 비시즌 기간으로 Model B 예상 발주량 8,948개 기준:
• 하루온 붙이는 핫팩 50g: 4,700개
  (기준×59.8%×0.0524)
• 불가마 붙이는 핫팩: 발주 대상 아님
  (6.8개, 월 수요 미미)
• 하루온 손난로 30개: 발주 대상 아님
  (겨울시즌 계수 0.0015)
즉시 대응 권고: 붙이는 핫팩 50g 4,700개 납품 준비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15CAF"/>
                </a:solidFill>
                <a:latin typeface="맑은 고딕"/>
              </a:rPr>
              <a:t>정확성 검증 ① — 얼마나 맞추는가</a:t>
            </a:r>
          </a:p>
          <a:p>
            <a:r>
              <a:rPr sz="1400" b="0">
                <a:solidFill>
                  <a:srgbClr val="666666"/>
                </a:solidFill>
                <a:latin typeface="맑은 고딕"/>
              </a:rPr>
              <a:t>검증 기간: 2025-10 ~ 2026-04 (27주, 실측 기반)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66666"/>
                </a:solidFill>
                <a:latin typeface="맑은 고딕"/>
              </a:rPr>
              <a:t>MAE(평균 절대 오차) = 예측값이 실제값과 평균 몇 개 차이 나는가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377440"/>
          <a:ext cx="112471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비교 대상</a:t>
                      </a:r>
                    </a:p>
                  </a:txBody>
                  <a:tcPr>
                    <a:solidFill>
                      <a:srgbClr val="215C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MAE (주당 개수)</a:t>
                      </a:r>
                    </a:p>
                  </a:txBody>
                  <a:tcPr>
                    <a:solidFill>
                      <a:srgbClr val="215C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우리 모델 대비</a:t>
                      </a:r>
                    </a:p>
                  </a:txBody>
                  <a:tcPr>
                    <a:solidFill>
                      <a:srgbClr val="215CA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우리 모델 (Model A+B, 34 SKU 합산)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31,575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기준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Baseline 1: 전체 평균 예측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43,255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우리 모델 27% 더 정확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Baseline 2: 전주 값 복사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27,943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우리 모델 13% 나쁨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572000"/>
            <a:ext cx="112471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8C00"/>
                </a:solidFill>
                <a:latin typeface="맑은 고딕"/>
              </a:rPr>
              <a:t>정직한 해석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맑은 고딕"/>
              </a:rPr>
              <a:t>  ✓ 단순 평균(Baseline 1)보다는 확실히 낫다 — 날씨·품절·가격 반영 효과 확인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맑은 고딕"/>
              </a:rPr>
              <a:t>  ✗ 전주값 복사(Baseline 2)보다는 오히려 떨어진다 — 시계열 관성이 강한 구간에서 모델의 피처 해석이 방해</a:t>
            </a:r>
          </a:p>
          <a:p>
            <a:pPr algn="l"/>
            <a:r>
              <a:rPr sz="1300" b="1">
                <a:solidFill>
                  <a:srgbClr val="222222"/>
                </a:solidFill>
                <a:latin typeface="맑은 고딕"/>
              </a:rPr>
              <a:t>  → 결론: "저 모델이 있으면 평균보다 낫고, 단순 복사보다는 작지만 근거 있는 판단을 추가한다"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15CAF"/>
                </a:solidFill>
                <a:latin typeface="맑은 고딕"/>
              </a:rPr>
              <a:t>정확성 검증 ② — 월별 편향 분석</a:t>
            </a:r>
          </a:p>
          <a:p>
            <a:r>
              <a:rPr sz="1400" b="0">
                <a:solidFill>
                  <a:srgbClr val="666666"/>
                </a:solidFill>
                <a:latin typeface="맑은 고딕"/>
              </a:rPr>
              <a:t>어느 달에 잘 맞고 어느 달에 틀리는가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112471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주차</a:t>
                      </a:r>
                    </a:p>
                  </a:txBody>
                  <a:tcPr>
                    <a:solidFill>
                      <a:srgbClr val="215C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실제</a:t>
                      </a:r>
                    </a:p>
                  </a:txBody>
                  <a:tcPr>
                    <a:solidFill>
                      <a:srgbClr val="215C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예측</a:t>
                      </a:r>
                    </a:p>
                  </a:txBody>
                  <a:tcPr>
                    <a:solidFill>
                      <a:srgbClr val="215C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오차</a:t>
                      </a:r>
                    </a:p>
                  </a:txBody>
                  <a:tcPr>
                    <a:solidFill>
                      <a:srgbClr val="215C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편향</a:t>
                      </a:r>
                    </a:p>
                  </a:txBody>
                  <a:tcPr>
                    <a:solidFill>
                      <a:srgbClr val="215CA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</a:rPr>
                        <a:t>2025-11-17 (초겨울)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</a:rPr>
                        <a:t>107,393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</a:rPr>
                        <a:t>45,672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</a:rPr>
                        <a:t>-57%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</a:rPr>
                        <a:t>과소 (추위 폭발 못 잡음)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</a:rPr>
                        <a:t>2025-12-01 (성수기 진입)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</a:rPr>
                        <a:t>205,889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</a:rPr>
                        <a:t>81,383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</a:rPr>
                        <a:t>-60%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</a:rPr>
                        <a:t>과소 (첫 한파 효과)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</a:rPr>
                        <a:t>2025-12-22 (연말)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</a:rPr>
                        <a:t>123,982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</a:rPr>
                        <a:t>58,730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</a:rPr>
                        <a:t>-52%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</a:rPr>
                        <a:t>과소 (연말 수요)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</a:rPr>
                        <a:t>2026-02-02 (시즌 끝)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</a:rPr>
                        <a:t>42,780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</a:rPr>
                        <a:t>126,208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</a:rPr>
                        <a:t>+195%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</a:rPr>
                        <a:t>과대 (관성)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</a:rPr>
                        <a:t>2026-02-09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</a:rPr>
                        <a:t>19,705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</a:rPr>
                        <a:t>39,430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</a:rPr>
                        <a:t>+100%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</a:rPr>
                        <a:t>과대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20624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맑은 고딕"/>
              </a:rPr>
              <a:t>근본 원인: LightGBM의 '평균화 경향'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맑은 고딕"/>
              </a:rPr>
              <a:t>  - 트리 기반 모델은 극값(peak/valley)을 평균으로 눌러버림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맑은 고딕"/>
              </a:rPr>
              <a:t>  - 12월 초 폭발을 "이상치"로 취급 → 과소 예측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맑은 고딕"/>
              </a:rPr>
              <a:t>  - 2월 초 급락을 1월 관성으로 따라가 → 과대 예측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맑은 고딕"/>
              </a:rPr>
              <a:t/>
            </a:r>
          </a:p>
          <a:p>
            <a:pPr algn="l"/>
            <a:r>
              <a:rPr sz="1300" b="0">
                <a:solidFill>
                  <a:srgbClr val="2E863B"/>
                </a:solidFill>
                <a:latin typeface="맑은 고딕"/>
              </a:rPr>
              <a:t>완화 시도: first_snow_flag 피처 추가 → 2,163 → 2,143 (1% 개선)</a:t>
            </a:r>
          </a:p>
          <a:p>
            <a:pPr algn="l"/>
            <a:r>
              <a:rPr sz="1300" b="1">
                <a:solidFill>
                  <a:srgbClr val="222222"/>
                </a:solidFill>
                <a:latin typeface="맑은 고딕"/>
              </a:rPr>
              <a:t>근본 해결: 2년치 이상 실데이터가 쌓여야 peak/valley 패턴 학습 가능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15CAF"/>
                </a:solidFill>
                <a:latin typeface="맑은 고딕"/>
              </a:rPr>
              <a:t>실무자가 바로 쓸 수 있는 시나리오</a:t>
            </a:r>
          </a:p>
          <a:p>
            <a:r>
              <a:rPr sz="1400" b="0">
                <a:solidFill>
                  <a:srgbClr val="666666"/>
                </a:solidFill>
                <a:latin typeface="맑은 고딕"/>
              </a:rPr>
              <a:t>매주 월요일 아침, 대시보드에서 확인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15CAF"/>
                </a:solidFill>
                <a:latin typeface="맑은 고딕"/>
              </a:rPr>
              <a:t>Step 1 — 이번 주 발주 결정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맑은 고딕"/>
              </a:rPr>
              <a:t>  대시보드 "발주 시뮬레이션" 테이블에서 상위 10개 SKU 확인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맑은 고딕"/>
              </a:rPr>
              <a:t>  예: "2026-04-20 하루온 군인핫팩 1,278개 (43.3%)" → 쿠팡 주문 시스템에 입력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맑은 고딕"/>
              </a:rPr>
              <a:t/>
            </a:r>
          </a:p>
          <a:p>
            <a:pPr algn="l"/>
            <a:r>
              <a:rPr sz="1800" b="1">
                <a:solidFill>
                  <a:srgbClr val="215CAF"/>
                </a:solidFill>
                <a:latin typeface="맑은 고딕"/>
              </a:rPr>
              <a:t>Step 2 — 날씨·트렌드 재확인 (AI 인사이트)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맑은 고딕"/>
              </a:rPr>
              <a:t>  GPT-4o-mini가 "최근 7일 평균기온, 품절률, 권장량"을 3~5줄 권고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맑은 고딕"/>
              </a:rPr>
              <a:t>  예: "비시즌이므로 판매 예측의 50~70%로 제한 권장"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맑은 고딕"/>
              </a:rPr>
              <a:t/>
            </a:r>
          </a:p>
          <a:p>
            <a:pPr algn="l"/>
            <a:r>
              <a:rPr sz="1800" b="1">
                <a:solidFill>
                  <a:srgbClr val="215CAF"/>
                </a:solidFill>
                <a:latin typeface="맑은 고딕"/>
              </a:rPr>
              <a:t>Step 3 — 예측 vs 실측 점검 (주 끝에)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맑은 고딕"/>
              </a:rPr>
              <a:t>  대시보드 "겨울 검증" 차트에서 지난 주 실측 vs 예측 비교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맑은 고딕"/>
              </a:rPr>
              <a:t>  편향이 일관되면 다음 주 발주에 보정 적용 (과소 경향 → +10% 추가 등)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맑은 고딕"/>
              </a:rPr>
              <a:t/>
            </a:r>
          </a:p>
          <a:p>
            <a:pPr algn="l"/>
            <a:r>
              <a:rPr sz="1800" b="1">
                <a:solidFill>
                  <a:srgbClr val="215CAF"/>
                </a:solidFill>
                <a:latin typeface="맑은 고딕"/>
              </a:rPr>
              <a:t>Step 4 — 포장 단위별 검토 (월 1회)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맑은 고딕"/>
              </a:rPr>
              <a:t>  "포장 단위별 판매 분포" 카드에서 카테고리별 주력 옵션 확인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맑은 고딕"/>
              </a:rPr>
              <a:t>  예: 손난로 30/60/50/20개가 95% → 이 5개 옵션 생산 집중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15CAF"/>
                </a:solidFill>
                <a:latin typeface="맑은 고딕"/>
              </a:rPr>
              <a:t>대시보드 화면 구성</a:t>
            </a:r>
          </a:p>
          <a:p>
            <a:r>
              <a:rPr sz="1400" b="0">
                <a:solidFill>
                  <a:srgbClr val="666666"/>
                </a:solidFill>
                <a:latin typeface="맑은 고딕"/>
              </a:rPr>
              <a:t>http://localhost:3000/analytics/forecast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1124712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4963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카드</a:t>
                      </a:r>
                    </a:p>
                  </a:txBody>
                  <a:tcPr>
                    <a:solidFill>
                      <a:srgbClr val="215C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>
                    <a:solidFill>
                      <a:srgbClr val="215C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소스</a:t>
                      </a:r>
                    </a:p>
                  </a:txBody>
                  <a:tcPr>
                    <a:solidFill>
                      <a:srgbClr val="215CAF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</a:rPr>
                        <a:t>① AI 발주 인사이트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</a:rPr>
                        <a:t>3~5줄 자연어 권고 (GPT-4o-mini)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</a:rPr>
                        <a:t>Supabase + OpenAI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</a:rPr>
                        <a:t>② KPI 3개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</a:rPr>
                        <a:t>누적 판매, GMV, 다음 주 예측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</a:rPr>
                        <a:t>daily_performance / forecast_model_a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</a:rPr>
                        <a:t>③ 판매 + 예측 차트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</a:rPr>
                        <a:t>실선=실제, 점선=예측 (34 SKU 합산)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</a:rPr>
                        <a:t>Supabase winter_validation + forecast_model_b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</a:rPr>
                        <a:t>④ 겨울 검증 카드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</a:rPr>
                        <a:t>27주 실측 vs 예측 막대 + 편향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</a:rPr>
                        <a:t>winter_validation (grain=weekly)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</a:rPr>
                        <a:t>⑤ 포장 단위 분포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</a:rPr>
                        <a:t>카테고리 탭 + 옵션별 판매 비중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</a:rPr>
                        <a:t>daily_performance 파싱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6392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</a:rPr>
                        <a:t>⑥ 발주 시뮬레이션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</a:rPr>
                        <a:t>상위 50 SKU 권장 발주량 + 비중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</a:rPr>
                        <a:t>forecast_model_b (sku_id NOT NULL)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39496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맑은 고딕"/>
              </a:rPr>
              <a:t>모든 카드가 Supabase 우선 + 로컬 CSV 자동 fallback 설계로 배치 실패 시에도 화면 유지</a:t>
            </a:r>
          </a:p>
          <a:p>
            <a:pPr algn="l"/>
            <a:r>
              <a:rPr sz="1200" b="1">
                <a:solidFill>
                  <a:srgbClr val="FF8C00"/>
                </a:solidFill>
                <a:latin typeface="맑은 고딕"/>
              </a:rPr>
              <a:t>※ 실제 스크린샷은 별도 첨부 권장 (브라우저에서 캡처)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15CAF"/>
                </a:solidFill>
                <a:latin typeface="맑은 고딕"/>
              </a:rPr>
              <a:t>개선 계획 (단기 / 중기 / 장기)</a:t>
            </a:r>
          </a:p>
          <a:p>
            <a:r>
              <a:rPr sz="1400" b="0">
                <a:solidFill>
                  <a:srgbClr val="666666"/>
                </a:solidFill>
                <a:latin typeface="맑은 고딕"/>
              </a:rPr>
              <a:t>현재 한계를 어떻게 해결할 것인가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863B"/>
                </a:solidFill>
                <a:latin typeface="맑은 고딕"/>
              </a:rPr>
              <a:t>단기 (한 시즌 내)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맑은 고딕"/>
              </a:rPr>
              <a:t>  ✓ 2025-04 이상치 재검증 (바이박스 SKU 라인업 히스토리 확인)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맑은 고딕"/>
              </a:rPr>
              <a:t>  ✓ 카테고리별 Model A 별도 학습 vs 글로벌 모델 재비교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맑은 고딕"/>
              </a:rPr>
              <a:t/>
            </a:r>
          </a:p>
          <a:p>
            <a:pPr algn="l"/>
            <a:r>
              <a:rPr sz="1800" b="1">
                <a:solidFill>
                  <a:srgbClr val="215CAF"/>
                </a:solidFill>
                <a:latin typeface="맑은 고딕"/>
              </a:rPr>
              <a:t>중기 (2026~2027 시즌 완료 후)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맑은 고딕"/>
              </a:rPr>
              <a:t>  ✓ 2년치 누적 데이터로 월별 계수 재계산 — 신뢰구간 추가, 이상치 자동 탐지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맑은 고딕"/>
              </a:rPr>
              <a:t>  ✓ SKU × 월 단위 계수 세분화 (카테고리 단위 → SKU 단위)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맑은 고딕"/>
              </a:rPr>
              <a:t>  ✓ 프로모션 플래그·경쟁사 가격 피처 추가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맑은 고딕"/>
              </a:rPr>
              <a:t>  ✓ LightGBM 평균화 경향 → peak/valley 보정 기법 도입 (quantile forest 등)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맑은 고딕"/>
              </a:rPr>
              <a:t/>
            </a:r>
          </a:p>
          <a:p>
            <a:pPr algn="l"/>
            <a:r>
              <a:rPr sz="1800" b="1">
                <a:solidFill>
                  <a:srgbClr val="FF8C00"/>
                </a:solidFill>
                <a:latin typeface="맑은 고딕"/>
              </a:rPr>
              <a:t>장기 (2년+ 데이터 축적)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맑은 고딕"/>
              </a:rPr>
              <a:t>  ✓ 기상청 평년값 대비 편차 보정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맑은 고딕"/>
              </a:rPr>
              <a:t>  ✓ 의료용 카테고리 업계 통계(건강보험심사평가원 파스 처방)와 교차 검증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맑은 고딕"/>
              </a:rPr>
              <a:t>  ✓ 시즌별 계수 자동 업데이트 파이프라인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15CAF"/>
                </a:solidFill>
                <a:latin typeface="맑은 고딕"/>
              </a:rPr>
              <a:t>요약 — 이 시스템이 주는 가치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463040"/>
            <a:ext cx="11247120" cy="1097280"/>
          </a:xfrm>
          <a:prstGeom prst="roundRect">
            <a:avLst/>
          </a:prstGeom>
          <a:solidFill>
            <a:srgbClr val="215CAF"/>
          </a:solidFill>
          <a:ln>
            <a:solidFill>
              <a:srgbClr val="215C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"주관적 감"을 넘어 "데이터 기반 발주 권고"로 이동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1247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863B"/>
                </a:solidFill>
                <a:latin typeface="맑은 고딕"/>
              </a:rPr>
              <a:t>얻은 것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맑은 고딕"/>
              </a:rPr>
              <a:t>  • 34개 핫팩 제품 주단위 판매 예측 (Model A LightGBM)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맑은 고딕"/>
              </a:rPr>
              <a:t>  • 카테고리 + SKU 분배 발주 권장 (Model B 비율 모델)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맑은 고딕"/>
              </a:rPr>
              <a:t>  • 3~5줄 자연어 권고 (GPT-4o-mini, 카테고리별 월별 계수 반영)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맑은 고딕"/>
              </a:rPr>
              <a:t>  • 단순 평균 대비 27% 더 정확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맑은 고딕"/>
              </a:rPr>
              <a:t/>
            </a:r>
          </a:p>
          <a:p>
            <a:pPr algn="l"/>
            <a:r>
              <a:rPr sz="1800" b="1">
                <a:solidFill>
                  <a:srgbClr val="C0392B"/>
                </a:solidFill>
                <a:latin typeface="맑은 고딕"/>
              </a:rPr>
              <a:t>한계 (정직히)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맑은 고딕"/>
              </a:rPr>
              <a:t>  • 1년치 데이터로 겨울 극값 학습 불가 → 2년치 쌓일 때까지 보수적 권고 유지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맑은 고딕"/>
              </a:rPr>
              <a:t>  • 프로모션·경쟁사·뉴스 외부 요인 미반영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맑은 고딕"/>
              </a:rPr>
              <a:t>  • 전주 복사 대비 오히려 떨어지는 구간 존재 (관성이 강한 시기)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맑은 고딕"/>
              </a:rPr>
              <a:t/>
            </a:r>
          </a:p>
          <a:p>
            <a:pPr algn="l"/>
            <a:r>
              <a:rPr sz="1400" b="1">
                <a:solidFill>
                  <a:srgbClr val="215CAF"/>
                </a:solidFill>
                <a:latin typeface="맑은 고딕"/>
              </a:rPr>
              <a:t>다음 스텝: PM DB 재구축 완료 후 E2E 파이프라인 주간 자동 실행, 다음 시즌 데이터 축적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15CAF"/>
                </a:solidFill>
                <a:latin typeface="맑은 고딕"/>
              </a:rPr>
              <a:t>부록 — 용어 사전 (영어 약어 · 전문 용어)</a:t>
            </a:r>
          </a:p>
          <a:p>
            <a:r>
              <a:rPr sz="1400" b="0">
                <a:solidFill>
                  <a:srgbClr val="666666"/>
                </a:solidFill>
                <a:latin typeface="맑은 고딕"/>
              </a:rPr>
              <a:t>이 자료에 나오는 헷갈리는 단어 모음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1371600"/>
          <a:ext cx="594360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1200"/>
                <a:gridCol w="1981200"/>
                <a:gridCol w="1981200"/>
              </a:tblGrid>
              <a:tr h="52120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약어/용어</a:t>
                      </a:r>
                    </a:p>
                  </a:txBody>
                  <a:tcPr>
                    <a:solidFill>
                      <a:srgbClr val="215C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한글 풀이</a:t>
                      </a:r>
                    </a:p>
                  </a:txBody>
                  <a:tcPr>
                    <a:solidFill>
                      <a:srgbClr val="215C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쉬운 설명</a:t>
                      </a:r>
                    </a:p>
                  </a:txBody>
                  <a:tcPr>
                    <a:solidFill>
                      <a:srgbClr val="215CA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MAE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평균 절대 오차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예측이 실제와 평균 몇 '개' 차이 나는가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MAPE / 오차율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평균 절대 비율 오차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MAE를 %로 환산 (예: 평균 10% 틀림)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비교용 기준선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'아무 것도 안 했을 때' 대비 얼마나 나은지 측정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신뢰구간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Confidence Interval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예측이 이 범위 안에 들어올 확률 (90% CI = ±1.645×MAE)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SKU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Stock Keeping Unit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제품을 구분하는 고유 코드 (옵션별로 다름)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GMV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Gross Merchandise Volume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할인 전 총 판매액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합성 데이터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Synthetic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실측 패턴으로 '그럴듯하게 만들어낸' 가짜 데이터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lag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시계열 이전 값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lag_1 = 1주 전 판매량 (모델에 넣는 피처)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피처 (feature)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Feature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모델에 입력하는 변수 (온도·가격·품절 등)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217920" y="1371600"/>
          <a:ext cx="594360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1200"/>
                <a:gridCol w="1981200"/>
                <a:gridCol w="1981200"/>
              </a:tblGrid>
              <a:tr h="52120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약어/용어</a:t>
                      </a:r>
                    </a:p>
                  </a:txBody>
                  <a:tcPr>
                    <a:solidFill>
                      <a:srgbClr val="215C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한글 풀이</a:t>
                      </a:r>
                    </a:p>
                  </a:txBody>
                  <a:tcPr>
                    <a:solidFill>
                      <a:srgbClr val="215C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쉬운 설명</a:t>
                      </a:r>
                    </a:p>
                  </a:txBody>
                  <a:tcPr>
                    <a:solidFill>
                      <a:srgbClr val="215CA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LightGBM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Light Gradient Boosting Machine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Microsoft 머신러닝 라이브러리 (수백 개 결정트리 투표)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ASOS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Automated Synoptic Observing System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기상청 지상 자동 관측 시스템 (1일 실측)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ERA5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ECMWF Reanalysis v5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유럽중기예보센터 재분석 날씨 (역사 완전 커버)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ECMWF Open-Meteo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ECMWF 공개 예보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향후 0~15일 미래 날씨 무료 API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Supabase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PostgreSQL + 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오픈소스 DB 서비스 (우리 데이터 저장소)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FastAPI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Python 웹 프레임워크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Supabase ↔ Next.js 사이 중계 서버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UPSERT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UPDATE + INSERT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있으면 덮어쓰고, 없으면 새로 넣음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PK / FK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Primary / Foreign Key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PK=테이블 행을 식별, FK=다른 테이블과 연결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GPT-4o-mini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OpenAI 소형 모델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AI 인사이트 3~5줄 생성에 사용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